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7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wmf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Cisco Packet Tracer</a:t>
            </a:r>
            <a:br/>
            <a:r>
              <a:rPr>
                <a:solidFill>
                  <a:srgbClr val="FFFFFF"/>
                </a:solidFill>
              </a:rPr>
              <a:t>hálózati projekt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D7E1EE"/>
                </a:solidFill>
              </a:defRPr>
            </a:pPr>
            <a:r>
              <a:rPr>
                <a:solidFill>
                  <a:srgbClr val="FFFFFF"/>
                </a:solidFill>
              </a:rPr>
              <a:t>Portfólió bemutató</a:t>
            </a:r>
          </a:p>
          <a:p>
            <a:pPr>
              <a:spcAft>
                <a:spcPts val="700"/>
              </a:spcAft>
              <a:defRPr sz="1400">
                <a:solidFill>
                  <a:srgbClr val="D7E1EE"/>
                </a:solidFill>
              </a:defRPr>
            </a:pPr>
            <a:r>
              <a:rPr>
                <a:solidFill>
                  <a:srgbClr val="FFFFFF"/>
                </a:solidFill>
              </a:rPr>
              <a:t>Informatikai rendszer- és alkalmazásüzemeltető technikus</a:t>
            </a:r>
          </a:p>
          <a:p>
            <a:pPr>
              <a:spcAft>
                <a:spcPts val="700"/>
              </a:spcAft>
              <a:defRPr sz="1400">
                <a:solidFill>
                  <a:srgbClr val="D7E1EE"/>
                </a:solidFill>
              </a:defRPr>
            </a:pPr>
            <a:r>
              <a:rPr>
                <a:solidFill>
                  <a:srgbClr val="FFFFFF"/>
                </a:solidFill>
              </a:rPr>
              <a:t>Belyus Bence • Kalas Bence • OKTÁV Miskolc •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45720"/>
          </a:xfrm>
          <a:prstGeom prst="rect">
            <a:avLst/>
          </a:prstGeom>
          <a:solidFill>
            <a:srgbClr val="42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3"/>
                </a:solidFill>
              </a:defRPr>
            </a:pPr>
            <a:r>
              <a:rPr>
                <a:solidFill>
                  <a:srgbClr val="202A34"/>
                </a:solidFill>
              </a:rPr>
              <a:t>A projekt célja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Egy kisebb könyvtári informatikai hálózat megtervezése és szimulációja.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Több, egymástól elkülönített hálózati szegmens kialakítása.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Routerek, switchek és különböző végberendezések használata.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IPv4-címzés, alapvető eszközkonfiguráció és hálózati tesztelés gyakorlása.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A képzés során megszerzett elméleti tudás gyakorlati alkalmazása.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45720"/>
          </a:xfrm>
          <a:prstGeom prst="rect">
            <a:avLst/>
          </a:prstGeom>
          <a:solidFill>
            <a:srgbClr val="42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234440"/>
            <a:ext cx="73152" cy="4800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3"/>
                </a:solidFill>
              </a:defRPr>
            </a:pPr>
            <a:r>
              <a:rPr>
                <a:solidFill>
                  <a:srgbClr val="202A34"/>
                </a:solidFill>
              </a:rPr>
              <a:t>A tervezett hálózat – hálózati topológia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rPr>
                <a:solidFill>
                  <a:srgbClr val="202A34"/>
                </a:solidFill>
              </a:rPr>
              <a:t>A projektben kialakított könyvtári hálózat és az egyes hálózati szegmensek.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7809" y="1179576"/>
            <a:ext cx="5385900" cy="5093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673" y="1234440"/>
            <a:ext cx="5276172" cy="4983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45720"/>
          </a:xfrm>
          <a:prstGeom prst="rect">
            <a:avLst/>
          </a:prstGeom>
          <a:solidFill>
            <a:srgbClr val="42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234440"/>
            <a:ext cx="73152" cy="4800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3"/>
                </a:solidFill>
              </a:defRPr>
            </a:pPr>
            <a:r>
              <a:rPr>
                <a:solidFill>
                  <a:srgbClr val="202A34"/>
                </a:solidFill>
              </a:rPr>
              <a:t>A tervezett hálózat – könyvtári makett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rPr>
                <a:solidFill>
                  <a:srgbClr val="202A34"/>
                </a:solidFill>
              </a:rPr>
              <a:t>A könyvtári környezet 3D-s kialakítása Cisco Packet Tracerben.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48295" y="1179576"/>
            <a:ext cx="4264928" cy="5093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3159" y="1234440"/>
            <a:ext cx="4155200" cy="4983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45720"/>
          </a:xfrm>
          <a:prstGeom prst="rect">
            <a:avLst/>
          </a:prstGeom>
          <a:solidFill>
            <a:srgbClr val="42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234440"/>
            <a:ext cx="73152" cy="4800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3"/>
                </a:solidFill>
              </a:defRPr>
            </a:pPr>
            <a:r>
              <a:rPr>
                <a:solidFill>
                  <a:srgbClr val="202A34"/>
                </a:solidFill>
              </a:rPr>
              <a:t>A használt eszközök és hálózatok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063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536192"/>
            <a:ext cx="2697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65B96"/>
                </a:solidFill>
              </a:defRPr>
            </a:pPr>
            <a:r>
              <a:rPr>
                <a:solidFill>
                  <a:srgbClr val="202A34"/>
                </a:solidFill>
              </a:rPr>
              <a:t>Szerverhálózat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Main server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Backup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371600"/>
            <a:ext cx="3063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536192"/>
            <a:ext cx="2697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65B96"/>
                </a:solidFill>
              </a:defRPr>
            </a:pPr>
            <a:r>
              <a:rPr>
                <a:solidFill>
                  <a:srgbClr val="202A34"/>
                </a:solidFill>
              </a:rPr>
              <a:t>Irodai hálózat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2 dolgozói PC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1 nyomtató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371600"/>
            <a:ext cx="3063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536192"/>
            <a:ext cx="2697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65B96"/>
                </a:solidFill>
              </a:defRPr>
            </a:pPr>
            <a:r>
              <a:rPr>
                <a:solidFill>
                  <a:srgbClr val="202A34"/>
                </a:solidFill>
              </a:rPr>
              <a:t>Vendég hálózat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4 PC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1 nyomtató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DHCP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3063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822191"/>
            <a:ext cx="2697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65B96"/>
                </a:solidFill>
              </a:defRPr>
            </a:pPr>
            <a:r>
              <a:rPr>
                <a:solidFill>
                  <a:srgbClr val="202A34"/>
                </a:solidFill>
              </a:rPr>
              <a:t>Wi‑Fi hálózat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Vendég telefon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Tablet • laptop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Biztonsági kamera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3657600"/>
            <a:ext cx="3063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3822191"/>
            <a:ext cx="2697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65B96"/>
                </a:solidFill>
              </a:defRPr>
            </a:pPr>
            <a:r>
              <a:rPr>
                <a:solidFill>
                  <a:srgbClr val="202A34"/>
                </a:solidFill>
              </a:rPr>
              <a:t>Dolgozói hálózat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1 laptop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Statikus 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45720"/>
          </a:xfrm>
          <a:prstGeom prst="rect">
            <a:avLst/>
          </a:prstGeom>
          <a:solidFill>
            <a:srgbClr val="42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1234440"/>
            <a:ext cx="73152" cy="4800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3"/>
                </a:solidFill>
              </a:defRPr>
            </a:pPr>
            <a:r>
              <a:rPr>
                <a:solidFill>
                  <a:srgbClr val="202A34"/>
                </a:solidFill>
              </a:rPr>
              <a:t>Biztonság és automatikus címkiosztás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A vendég hálózat DHCP-szolgáltatást kapott az RT könyvtár routertől.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A vendég eszközök automatikusan kapnak IP-címet.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Az ST könyvtár switchen VLAN-t állítottunk be.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A VLAN célja, hogy a vendég gépek ne férjenek hozzá az irodai gépekhez.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A hálózati eszköz CLI használatához jelszavas védelem is szerepel a projektben.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A Wi‑Fi router statikus IP-vel kapcsolódik az RT könyvtárhoz, a vezeték nélküli kliensek DHCP-t használnak.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45720"/>
          </a:xfrm>
          <a:prstGeom prst="rect">
            <a:avLst/>
          </a:prstGeom>
          <a:solidFill>
            <a:srgbClr val="42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234440"/>
            <a:ext cx="73152" cy="4800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9" name="Rectangle 7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3"/>
                </a:solidFill>
              </a:defRPr>
            </a:pPr>
            <a:r>
              <a:rPr>
                <a:solidFill>
                  <a:srgbClr val="202A34"/>
                </a:solidFill>
              </a:rPr>
              <a:t>IPv4-címzés – főbb hálózatok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2926080" cy="502920"/>
          </a:xfrm>
          <a:prstGeom prst="rect">
            <a:avLst/>
          </a:prstGeom>
          <a:solidFill>
            <a:srgbClr val="182A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17320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rgbClr val="202A34"/>
                </a:solidFill>
              </a:rPr>
              <a:t>Eszköz / hálózat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325880"/>
            <a:ext cx="2194560" cy="502920"/>
          </a:xfrm>
          <a:prstGeom prst="rect">
            <a:avLst/>
          </a:prstGeom>
          <a:solidFill>
            <a:srgbClr val="182A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02152" y="1417320"/>
            <a:ext cx="2048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rgbClr val="202A34"/>
                </a:solidFill>
              </a:rPr>
              <a:t>IP / interfész 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23559" y="1325880"/>
            <a:ext cx="2194560" cy="502920"/>
          </a:xfrm>
          <a:prstGeom prst="rect">
            <a:avLst/>
          </a:prstGeom>
          <a:solidFill>
            <a:srgbClr val="182A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96712" y="1417320"/>
            <a:ext cx="2048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rgbClr val="202A34"/>
                </a:solidFill>
              </a:rPr>
              <a:t>IP / interfész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1325880"/>
            <a:ext cx="3017520" cy="502920"/>
          </a:xfrm>
          <a:prstGeom prst="rect">
            <a:avLst/>
          </a:prstGeom>
          <a:solidFill>
            <a:srgbClr val="182A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2" y="1417320"/>
            <a:ext cx="2871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rgbClr val="202A34"/>
                </a:solidFill>
              </a:rPr>
              <a:t>Megjegyzés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2926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1920240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RT iroda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82880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1920240"/>
            <a:ext cx="2048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162.16.12.1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59" y="182880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1920240"/>
            <a:ext cx="2048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162.16.11.1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1828800"/>
            <a:ext cx="30175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2" y="1920240"/>
            <a:ext cx="2871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10.11.12.2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331720"/>
            <a:ext cx="2926080" cy="502920"/>
          </a:xfrm>
          <a:prstGeom prst="rect">
            <a:avLst/>
          </a:prstGeom>
          <a:solidFill>
            <a:srgbClr val="EBF0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423160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RT könyvtár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2331720"/>
            <a:ext cx="2194560" cy="502920"/>
          </a:xfrm>
          <a:prstGeom prst="rect">
            <a:avLst/>
          </a:prstGeom>
          <a:solidFill>
            <a:srgbClr val="EBF0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02152" y="2423160"/>
            <a:ext cx="2048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192.168.11.1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559" y="2331720"/>
            <a:ext cx="2194560" cy="502920"/>
          </a:xfrm>
          <a:prstGeom prst="rect">
            <a:avLst/>
          </a:prstGeom>
          <a:solidFill>
            <a:srgbClr val="EBF0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2423160"/>
            <a:ext cx="2048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192.168.12.1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2331720"/>
            <a:ext cx="3017520" cy="502920"/>
          </a:xfrm>
          <a:prstGeom prst="rect">
            <a:avLst/>
          </a:prstGeom>
          <a:solidFill>
            <a:srgbClr val="EBF0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91272" y="2423160"/>
            <a:ext cx="2871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192.168.13.1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834640"/>
            <a:ext cx="2926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2926080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Main server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283464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02152" y="2926080"/>
            <a:ext cx="2048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162.16.12.20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23559" y="283464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96712" y="2926080"/>
            <a:ext cx="2048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/24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2834640"/>
            <a:ext cx="30175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91272" y="2926080"/>
            <a:ext cx="2871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Statikus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337560"/>
            <a:ext cx="2926080" cy="502920"/>
          </a:xfrm>
          <a:prstGeom prst="rect">
            <a:avLst/>
          </a:prstGeom>
          <a:solidFill>
            <a:srgbClr val="EBF0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3429000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Backup server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0" y="3337560"/>
            <a:ext cx="2194560" cy="502920"/>
          </a:xfrm>
          <a:prstGeom prst="rect">
            <a:avLst/>
          </a:prstGeom>
          <a:solidFill>
            <a:srgbClr val="EBF0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02152" y="3429000"/>
            <a:ext cx="2048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162.16.12.21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23559" y="3337560"/>
            <a:ext cx="2194560" cy="502920"/>
          </a:xfrm>
          <a:prstGeom prst="rect">
            <a:avLst/>
          </a:prstGeom>
          <a:solidFill>
            <a:srgbClr val="EBF0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96712" y="3429000"/>
            <a:ext cx="2048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/24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3337560"/>
            <a:ext cx="3017520" cy="502920"/>
          </a:xfrm>
          <a:prstGeom prst="rect">
            <a:avLst/>
          </a:prstGeom>
          <a:solidFill>
            <a:srgbClr val="EBF0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91272" y="3429000"/>
            <a:ext cx="2871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Statikus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840480"/>
            <a:ext cx="2926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" y="3931920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PC iroda / 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29000" y="384048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02152" y="3931920"/>
            <a:ext cx="2048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162.16.11.4 / .3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23559" y="384048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96712" y="3931920"/>
            <a:ext cx="2048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/24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3840480"/>
            <a:ext cx="30175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91272" y="3931920"/>
            <a:ext cx="2871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Statikus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343400"/>
            <a:ext cx="2926080" cy="502920"/>
          </a:xfrm>
          <a:prstGeom prst="rect">
            <a:avLst/>
          </a:prstGeom>
          <a:solidFill>
            <a:srgbClr val="EBF0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" y="4434840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Iroda nyomtató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29000" y="4343400"/>
            <a:ext cx="2194560" cy="502920"/>
          </a:xfrm>
          <a:prstGeom prst="rect">
            <a:avLst/>
          </a:prstGeom>
          <a:solidFill>
            <a:srgbClr val="EBF0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02152" y="4434840"/>
            <a:ext cx="2048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162.16.11.5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23559" y="4343400"/>
            <a:ext cx="2194560" cy="502920"/>
          </a:xfrm>
          <a:prstGeom prst="rect">
            <a:avLst/>
          </a:prstGeom>
          <a:solidFill>
            <a:srgbClr val="EBF0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96712" y="4434840"/>
            <a:ext cx="2048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/24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18120" y="4343400"/>
            <a:ext cx="3017520" cy="502920"/>
          </a:xfrm>
          <a:prstGeom prst="rect">
            <a:avLst/>
          </a:prstGeom>
          <a:solidFill>
            <a:srgbClr val="EBF0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91272" y="4434840"/>
            <a:ext cx="2871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Statikus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4846320"/>
            <a:ext cx="2926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6072" y="4937760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Wi‑Fi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29000" y="484632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02152" y="4937760"/>
            <a:ext cx="2048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192.168.12.2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23559" y="484632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96712" y="4937760"/>
            <a:ext cx="2048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/24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18120" y="4846320"/>
            <a:ext cx="30175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91272" y="4937760"/>
            <a:ext cx="2871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DHCP kliensek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5349240"/>
            <a:ext cx="2926080" cy="502920"/>
          </a:xfrm>
          <a:prstGeom prst="rect">
            <a:avLst/>
          </a:prstGeom>
          <a:solidFill>
            <a:srgbClr val="EBF0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6072" y="5440680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Dolgozói laptop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29000" y="5349240"/>
            <a:ext cx="2194560" cy="502920"/>
          </a:xfrm>
          <a:prstGeom prst="rect">
            <a:avLst/>
          </a:prstGeom>
          <a:solidFill>
            <a:srgbClr val="EBF0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02152" y="5440680"/>
            <a:ext cx="2048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192.168.13.2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23559" y="5349240"/>
            <a:ext cx="2194560" cy="502920"/>
          </a:xfrm>
          <a:prstGeom prst="rect">
            <a:avLst/>
          </a:prstGeom>
          <a:solidFill>
            <a:srgbClr val="EBF0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96712" y="5440680"/>
            <a:ext cx="2048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/24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18120" y="5349240"/>
            <a:ext cx="3017520" cy="502920"/>
          </a:xfrm>
          <a:prstGeom prst="rect">
            <a:avLst/>
          </a:prstGeom>
          <a:solidFill>
            <a:srgbClr val="EBF0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891272" y="5440680"/>
            <a:ext cx="2871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Statikus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5989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8"/>
                </a:solidFill>
              </a:defRPr>
            </a:pPr>
            <a:r>
              <a:rPr>
                <a:solidFill>
                  <a:srgbClr val="202A34"/>
                </a:solidFill>
              </a:rPr>
              <a:t>Az /24-es hálózatok maszkja: 255.255.255.0 • A routerek közötti kapcsolat: 10.11.12.0/30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0" y="6473952"/>
            <a:ext cx="12191695" cy="45720"/>
          </a:xfrm>
          <a:prstGeom prst="rect">
            <a:avLst/>
          </a:prstGeom>
          <a:solidFill>
            <a:srgbClr val="42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84048" y="1234440"/>
            <a:ext cx="73152" cy="4800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3"/>
                </a:solidFill>
              </a:defRPr>
            </a:pPr>
            <a:r>
              <a:rPr>
                <a:solidFill>
                  <a:srgbClr val="202A34"/>
                </a:solidFill>
              </a:rPr>
              <a:t>A hálózat tesztelése és ellenőrzése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Konfiguráció után ellenőriztük az eszközök közötti kommunikációt.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Vizsgáltuk az IP-címeket, az alhálózati maszkokat és az alapértelmezett átjárókat.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Ping tesztekkel ellenőriztük a hálózati kapcsolatokat.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Hiba esetén az IP-beállításokat, a csatlakozásokat és az eszközkonfigurációt vizsgáltuk.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A tesztelés során a hibafelismerési és problémamegoldási készségeink is fejlődtek.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86400"/>
            <a:ext cx="17830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6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632704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5B96"/>
                </a:solidFill>
              </a:defRPr>
            </a:pPr>
            <a:r>
              <a:rPr>
                <a:solidFill>
                  <a:srgbClr val="202A34"/>
                </a:solidFill>
              </a:rPr>
              <a:t>IP-címek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2032" y="560527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E78"/>
                </a:solidFill>
              </a:defRPr>
            </a:pPr>
            <a:r>
              <a:rPr>
                <a:solidFill>
                  <a:srgbClr val="202A34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486400"/>
            <a:ext cx="17830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6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5632704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5B96"/>
                </a:solidFill>
              </a:defRPr>
            </a:pPr>
            <a:r>
              <a:rPr>
                <a:solidFill>
                  <a:srgbClr val="202A34"/>
                </a:solidFill>
              </a:rPr>
              <a:t>Maszkok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560527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E78"/>
                </a:solidFill>
              </a:defRPr>
            </a:pPr>
            <a:r>
              <a:rPr>
                <a:solidFill>
                  <a:srgbClr val="202A34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5486400"/>
            <a:ext cx="17830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6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5632704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5B96"/>
                </a:solidFill>
              </a:defRPr>
            </a:pPr>
            <a:r>
              <a:rPr>
                <a:solidFill>
                  <a:srgbClr val="202A34"/>
                </a:solidFill>
              </a:rPr>
              <a:t>Átjárók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560527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E78"/>
                </a:solidFill>
              </a:defRPr>
            </a:pPr>
            <a:r>
              <a:rPr>
                <a:solidFill>
                  <a:srgbClr val="202A34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5486400"/>
            <a:ext cx="17830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6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5632704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5B96"/>
                </a:solidFill>
              </a:defRPr>
            </a:pPr>
            <a:r>
              <a:rPr>
                <a:solidFill>
                  <a:srgbClr val="202A34"/>
                </a:solidFill>
              </a:rPr>
              <a:t>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560527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E78"/>
                </a:solidFill>
              </a:defRPr>
            </a:pPr>
            <a:r>
              <a:rPr>
                <a:solidFill>
                  <a:srgbClr val="202A34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5486400"/>
            <a:ext cx="17830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6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5632704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5B96"/>
                </a:solidFill>
              </a:defRPr>
            </a:pPr>
            <a:r>
              <a:rPr>
                <a:solidFill>
                  <a:srgbClr val="202A34"/>
                </a:solidFill>
              </a:rPr>
              <a:t>Hibakeresés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73952"/>
            <a:ext cx="12191695" cy="45720"/>
          </a:xfrm>
          <a:prstGeom prst="rect">
            <a:avLst/>
          </a:prstGeom>
          <a:solidFill>
            <a:srgbClr val="42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1234440"/>
            <a:ext cx="73152" cy="4800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3"/>
                </a:solidFill>
              </a:defRPr>
            </a:pPr>
            <a:r>
              <a:rPr>
                <a:solidFill>
                  <a:srgbClr val="202A34"/>
                </a:solidFill>
              </a:rPr>
              <a:t>Mit tanultunk a projekt során?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Hálózati topológia megtervezése és kialakítása.</a:t>
            </a:r>
          </a:p>
          <a:p>
            <a:pPr>
              <a:spcAft>
                <a:spcPts val="1000"/>
              </a:spcAft>
              <a:defRPr sz="1900" b="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Routerek és switchek szerepének és működésének gyakorlati megismerése.</a:t>
            </a:r>
          </a:p>
          <a:p>
            <a:pPr>
              <a:spcAft>
                <a:spcPts val="1000"/>
              </a:spcAft>
              <a:defRPr sz="1900" b="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IPv4-címzés, alhálózati maszkok és alapértelmezett átjárók használata.</a:t>
            </a:r>
          </a:p>
          <a:p>
            <a:pPr>
              <a:spcAft>
                <a:spcPts val="1000"/>
              </a:spcAft>
              <a:defRPr sz="1900" b="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Interfészek és hálózati beállítások ellenőrzése.</a:t>
            </a:r>
          </a:p>
          <a:p>
            <a:pPr>
              <a:spcAft>
                <a:spcPts val="1000"/>
              </a:spcAft>
              <a:defRPr sz="1900" b="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Kapcsolatok tesztelése és hálózati hibák felismerése.</a:t>
            </a:r>
          </a:p>
          <a:p>
            <a:pPr>
              <a:spcAft>
                <a:spcPts val="1000"/>
              </a:spcAft>
              <a:defRPr sz="1900" b="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Közös munkavégzés, feladatmegosztás és problémamegoldás.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45720"/>
          </a:xfrm>
          <a:prstGeom prst="rect">
            <a:avLst/>
          </a:prstGeom>
          <a:solidFill>
            <a:srgbClr val="42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234440"/>
            <a:ext cx="73152" cy="4800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3"/>
                </a:solidFill>
              </a:defRPr>
            </a:pPr>
            <a:r>
              <a:rPr>
                <a:solidFill>
                  <a:srgbClr val="202A34"/>
                </a:solidFill>
              </a:rPr>
              <a:t>Összegzés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A Cisco Packet Tracer projekt során egy valósághű, több hálózati szegmensből álló könyvtári rendszert terveztünk és szimuláltunk.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Az elméleti ismereteket gyakorlati feladatokban alkalmaztuk.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Tapasztalatot szereztünk a hálózatok konfigurálásában és tesztelésében.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A közös projekt fejlesztette az együttműködési és problémamegoldó készségeinket.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5B96"/>
                </a:solidFill>
              </a:defRPr>
            </a:pPr>
            <a:r>
              <a:rPr>
                <a:solidFill>
                  <a:srgbClr val="202A34"/>
                </a:solidFill>
              </a:rPr>
              <a:t>Köszönjük a figyelmet!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45720"/>
          </a:xfrm>
          <a:prstGeom prst="rect">
            <a:avLst/>
          </a:prstGeom>
          <a:solidFill>
            <a:srgbClr val="42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234440"/>
            <a:ext cx="73152" cy="4800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A43"/>
                </a:solidFill>
              </a:defRPr>
            </a:pPr>
            <a:r>
              <a:rPr>
                <a:solidFill>
                  <a:srgbClr val="202A34"/>
                </a:solidFill>
              </a:rPr>
              <a:t>A projekt legfontosabb elemei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00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65B96"/>
                </a:solidFill>
              </a:defRPr>
            </a:pPr>
            <a:r>
              <a:rPr>
                <a:solidFill>
                  <a:srgbClr val="202A34"/>
                </a:solidFill>
              </a:rPr>
              <a:t>Hálózati topológia</a:t>
            </a:r>
          </a:p>
          <a:p>
            <a:pPr>
              <a:spcBef>
                <a:spcPts val="800"/>
              </a:spcBef>
              <a:defRPr sz="15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Két routerrel összekapcsolt iroda- és könyvtári hálózat.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00200"/>
            <a:ext cx="4800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65B96"/>
                </a:solidFill>
              </a:defRPr>
            </a:pPr>
            <a:r>
              <a:rPr>
                <a:solidFill>
                  <a:srgbClr val="202A34"/>
                </a:solidFill>
              </a:rPr>
              <a:t>IPv4-címzés</a:t>
            </a:r>
          </a:p>
          <a:p>
            <a:pPr>
              <a:spcBef>
                <a:spcPts val="800"/>
              </a:spcBef>
              <a:defRPr sz="15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Több külön hálózati tartomány, statikus és DHCP-címzés.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0332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4800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65B96"/>
                </a:solidFill>
              </a:defRPr>
            </a:pPr>
            <a:r>
              <a:rPr>
                <a:solidFill>
                  <a:srgbClr val="202A34"/>
                </a:solidFill>
              </a:rPr>
              <a:t>Hálózati biztonság</a:t>
            </a:r>
          </a:p>
          <a:p>
            <a:pPr>
              <a:spcBef>
                <a:spcPts val="800"/>
              </a:spcBef>
              <a:defRPr sz="15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Vendég hálózat VLAN-nal elkülönítve az irodai eszközöktől.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0332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886200"/>
            <a:ext cx="4800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65B96"/>
                </a:solidFill>
              </a:defRPr>
            </a:pPr>
            <a:r>
              <a:rPr>
                <a:solidFill>
                  <a:srgbClr val="202A34"/>
                </a:solidFill>
              </a:rPr>
              <a:t>Tesztelés</a:t>
            </a:r>
          </a:p>
          <a:p>
            <a:pPr>
              <a:spcBef>
                <a:spcPts val="800"/>
              </a:spcBef>
              <a:defRPr sz="1500">
                <a:solidFill>
                  <a:srgbClr val="23282D"/>
                </a:solidFill>
              </a:defRPr>
            </a:pPr>
            <a:r>
              <a:rPr>
                <a:solidFill>
                  <a:srgbClr val="202A34"/>
                </a:solidFill>
              </a:rPr>
              <a:t>Ping tesztekkel ellenőriztük a hálózati kommunikációt.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53796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45720"/>
          </a:xfrm>
          <a:prstGeom prst="rect">
            <a:avLst/>
          </a:prstGeom>
          <a:solidFill>
            <a:srgbClr val="42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1234440"/>
            <a:ext cx="73152" cy="4800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